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BLUESTOCK FINTECH RESEARCH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</a:defRPr>
            </a:pPr>
            <a:r>
              <a:t>Mutual Fund Analytics &amp; Quantitative Risk Modeling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Enterprise Data Engineering, Factor Attribution, Composite Scorecard &amp; Executive BI Solution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Author: Ankitha B | Bluestock Capstone Fellow  •  Timeline: 2022–2026 Data Universe  •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Strategic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The Market Dilemma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Information Asymmetry:</a:t>
            </a:r>
            <a:r>
              <a:rPr sz="1050">
                <a:solidFill>
                  <a:srgbClr val="64748B"/>
                </a:solidFill>
              </a:rPr>
              <a:t> Retail investors rely heavily on 1-year trailing nominal returns, completely ignoring risk-adjusted factors and drawdown risks.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Direct vs Regular Inefficiencies:</a:t>
            </a:r>
            <a:r>
              <a:rPr sz="1050">
                <a:solidFill>
                  <a:srgbClr val="64748B"/>
                </a:solidFill>
              </a:rPr>
              <a:t> High distributor commissions (60-85 bps TER drag) compound silently into substantial wealth loss over 10+ year horizons.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Unstandardized Disclosures:</a:t>
            </a:r>
            <a:r>
              <a:rPr sz="1050">
                <a:solidFill>
                  <a:srgbClr val="64748B"/>
                </a:solidFill>
              </a:rPr>
              <a:t> AMFI data, daily NAVs, AUM snapshots, and benchmark indices are distributed in siloed formats lacking cohesive analytical tooling.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Absence of Downside Metrics:</a:t>
            </a:r>
            <a:r>
              <a:rPr sz="1050">
                <a:solidFill>
                  <a:srgbClr val="64748B"/>
                </a:solidFill>
              </a:rPr>
              <a:t> Standard metrics penalize positive upside volatility; investors lack access to semi-deviation (Sortino) and historical recovery timelines.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Strategic Deliverables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047AB"/>
                </a:solidFill>
              </a:rPr>
              <a:t>Automated ETL Pipeline:</a:t>
            </a:r>
            <a:r>
              <a:rPr sz="1050">
                <a:solidFill>
                  <a:srgbClr val="64748B"/>
                </a:solidFill>
              </a:rPr>
              <a:t> Build a deterministic SQLite star schema harmonizing 64,320 NAV records and 30,000 transactions across 40 schemes.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47AB"/>
                </a:solidFill>
              </a:rPr>
              <a:t>Quantitative Factor Engine:</a:t>
            </a:r>
            <a:r>
              <a:rPr sz="1050">
                <a:solidFill>
                  <a:srgbClr val="64748B"/>
                </a:solidFill>
              </a:rPr>
              <a:t> Implement multi-period CAGR, Sharpe ($R_f=6.5\%$), Sortino, CAPM Alpha/Beta vs Nifty 100, and max drawdown analytics.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47AB"/>
                </a:solidFill>
              </a:rPr>
              <a:t>Composite Fund Scorecard (0–100):</a:t>
            </a:r>
            <a:r>
              <a:rPr sz="1050">
                <a:solidFill>
                  <a:srgbClr val="64748B"/>
                </a:solidFill>
              </a:rPr>
              <a:t> Design an objective 5-factor scoring model weighting return, efficiency, manager alpha, cost, and capital preservation.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47AB"/>
                </a:solidFill>
              </a:rPr>
              <a:t>Executive Power BI Suite:</a:t>
            </a:r>
            <a:r>
              <a:rPr sz="1050">
                <a:solidFill>
                  <a:srgbClr val="64748B"/>
                </a:solidFill>
              </a:rPr>
              <a:t> Deliver 4-page interactive dashboard covering industry growth, fund rankings, demographics, and SIP channel dynamics.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47AB"/>
                </a:solidFill>
              </a:rPr>
              <a:t>Actionable Playbook:</a:t>
            </a:r>
            <a:r>
              <a:rPr sz="1050">
                <a:solidFill>
                  <a:srgbClr val="64748B"/>
                </a:solidFill>
              </a:rPr>
              <a:t> Formulate tailored allocation strategies for retail investors, institutional desks, and FinTech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Sources &amp; Star Schema Dimensional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47AB"/>
                </a:solidFill>
              </a:defRPr>
            </a:pPr>
            <a:r>
              <a:t>40 Schemes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Across Equity, Debt &amp; 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801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53312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64,320 Records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Daily NAV History (2022-2026)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53312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30,000 Rows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Granular Investor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2801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353312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10 Benchmarks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NIFTY 50, 100, 500, CRISIL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786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Star Schema Relational Architecture (SQLite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dim_fund (Dimension):</a:t>
            </a:r>
            <a:r>
              <a:rPr sz="1000">
                <a:solidFill>
                  <a:srgbClr val="1E293B"/>
                </a:solidFill>
              </a:rPr>
              <a:t> 40 AMC schemes, fund house, category, sub-category, plan (Direct/Regular), launch date, expense ratio (TER)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dim_date (Dimension):</a:t>
            </a:r>
            <a:r>
              <a:rPr sz="1000">
                <a:solidFill>
                  <a:srgbClr val="1E293B"/>
                </a:solidFill>
              </a:rPr>
              <a:t> 1,608 calendar dates (2022-01-03 to 2026-05-29), year, quarter, month, day, is_weekday flag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fact_nav (Fact Table):</a:t>
            </a:r>
            <a:r>
              <a:rPr sz="1000">
                <a:solidFill>
                  <a:srgbClr val="1E293B"/>
                </a:solidFill>
              </a:rPr>
              <a:t> 64,320 records tracking daily closing NAVs, is_forward_filled flag (0/1), calculated daily returns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fact_transactions (Fact Table):</a:t>
            </a:r>
            <a:r>
              <a:rPr sz="1000">
                <a:solidFill>
                  <a:srgbClr val="1E293B"/>
                </a:solidFill>
              </a:rPr>
              <a:t> 30,000 investor trades capturing age, gender, state, city tier (T30/B30), SIP vs lumpsum, payment mode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fact_aum (Fact Table):</a:t>
            </a:r>
            <a:r>
              <a:rPr sz="1000">
                <a:solidFill>
                  <a:srgbClr val="1E293B"/>
                </a:solidFill>
              </a:rPr>
              <a:t> 480 monthly AUM snapshots across top 10 AMCs detailing total managed assets and net inflows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benchmark_indices (Fact):</a:t>
            </a:r>
            <a:r>
              <a:rPr sz="1000">
                <a:solidFill>
                  <a:srgbClr val="1E293B"/>
                </a:solidFill>
              </a:rPr>
              <a:t> 8,050 index closing levels for Nifty 50, Nifty 100 TRI, Midcap 150, Smallcap 250, CRISIL Gilt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portfolio_holdings (Fact):</a:t>
            </a:r>
            <a:r>
              <a:rPr sz="1000">
                <a:solidFill>
                  <a:srgbClr val="1E293B"/>
                </a:solidFill>
              </a:rPr>
              <a:t> 400 top holding records detailing asset allocation, sector weights, and equity concentration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fact_performance (Derived):</a:t>
            </a:r>
            <a:r>
              <a:rPr sz="1000">
                <a:solidFill>
                  <a:srgbClr val="1E293B"/>
                </a:solidFill>
              </a:rPr>
              <a:t> Quant metrics: 1Y/3Y/5Y CAGR, Sharpe, Sortino, Alpha, Beta, Max Drawdown, and Composite Scorecard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Data Engineering &amp; ETL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47AB"/>
                </a:solidFill>
              </a:defRPr>
            </a:pPr>
            <a:r>
              <a:t>Stage 1: Ingestion &amp; Extract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Multi-source CSV ingestion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Schema contract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Staging buffer allocation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Raw AMFI format 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Stage 2: Cleaning &amp; Harmonize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Weekend calendar grid filling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`is_forward_filled` binary flag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TER percentage casting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Outlier 3-sigma winsorization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Stage 3: SQLite Storage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Star Schema relational load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Foreign key constraints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B-Tree index optimization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Automated VACUUM &amp; ANALYZE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Stage 4: BI &amp; Analytics Layer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SciPy &amp; Pandas quant engine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Scorecard rating synthesis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Power BI dataset sync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Automated report compilation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59552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7AB"/>
                </a:solidFill>
              </a:defRPr>
            </a:pPr>
            <a:r>
              <a:t>Data Integrity Guarantee: 100% complete time series across 1,608 days; non-trading days forward-filled with zero return distortion in downstream quant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Exploratory Data Analysis: AUM Growth &amp; SIP Inflow Dynamics</a:t>
            </a:r>
          </a:p>
        </p:txBody>
      </p:sp>
      <p:pic>
        <p:nvPicPr>
          <p:cNvPr id="6" name="Picture 5" descr="02_aum_growth_by_fund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017520"/>
          </a:xfrm>
          <a:prstGeom prst="rect">
            <a:avLst/>
          </a:prstGeom>
        </p:spPr>
      </p:pic>
      <p:pic>
        <p:nvPicPr>
          <p:cNvPr id="7" name="Picture 6" descr="03_monthly_sip_inflow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Key Macro Inflow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Exponential SIP Trajectory: </a:t>
            </a:r>
            <a:r>
              <a:rPr sz="1000">
                <a:solidFill>
                  <a:srgbClr val="1E293B"/>
                </a:solidFill>
              </a:rPr>
              <a:t>Monthly SIP inflows grew continuously from ₹11,500 Cr (Jan 2022) to &gt;₹23,000 Cr (mid-2026), proving that retail systematic commitments act as a structural counterweight to foreign institutional selling.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Fund House Concentration: </a:t>
            </a:r>
            <a:r>
              <a:rPr sz="1000">
                <a:solidFill>
                  <a:srgbClr val="1E293B"/>
                </a:solidFill>
              </a:rPr>
              <a:t>Top 5 AMCs (SBI, ICICI Pru, HDFC, Nippon, Kotak) manage over 58% of industry AUM. SBI MF leads due to massive public-sector banking reach.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Category Inflow Rotation: </a:t>
            </a:r>
            <a:r>
              <a:rPr sz="1000">
                <a:solidFill>
                  <a:srgbClr val="1E293B"/>
                </a:solidFill>
              </a:rPr>
              <a:t>Inflows rotated cyclically from Large Cap (2022) into Mid and Small Caps (2024–2025) chasing high trailing returns, increasing downside 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Exploratory Data Analysis: Demographics &amp; Geographic Expansion</a:t>
            </a:r>
          </a:p>
        </p:txBody>
      </p:sp>
      <p:pic>
        <p:nvPicPr>
          <p:cNvPr id="6" name="Picture 5" descr="05_investor_demographics_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017520"/>
          </a:xfrm>
          <a:prstGeom prst="rect">
            <a:avLst/>
          </a:prstGeom>
        </p:spPr>
      </p:pic>
      <p:pic>
        <p:nvPicPr>
          <p:cNvPr id="7" name="Picture 6" descr="08_geographic_sip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Demographic &amp; Geographic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Millennial &amp; Gen Z Influx: </a:t>
            </a:r>
            <a:r>
              <a:rPr sz="1000">
                <a:solidFill>
                  <a:srgbClr val="1E293B"/>
                </a:solidFill>
              </a:rPr>
              <a:t>Investors aged 18–35 constitute 42% of active accounts and 54% of new SIP registrations, driven by frictionless digital KYC onboarding.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Geographic Breadth: </a:t>
            </a:r>
            <a:r>
              <a:rPr sz="1000">
                <a:solidFill>
                  <a:srgbClr val="1E293B"/>
                </a:solidFill>
              </a:rPr>
              <a:t>Maharashtra, Gujarat, Karnataka, and Delhi NCR represent 48% of AUM, while B30 locations expanded at 28% CAGR vs 16% for metropolitan T30.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Ticket Size Polarization: </a:t>
            </a:r>
            <a:r>
              <a:rPr sz="1000">
                <a:solidFill>
                  <a:srgbClr val="1E293B"/>
                </a:solidFill>
              </a:rPr>
              <a:t>Metropolitan T30 accounts average ₹4,500–₹8,000/month SIPs, whereas B30 centers average ₹1,500–₹2,500/month with high UPI AutoPay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Analytics: Multi-Period Compounded Growth (CAGR)</a:t>
            </a:r>
          </a:p>
        </p:txBody>
      </p:sp>
      <p:pic>
        <p:nvPicPr>
          <p:cNvPr id="6" name="Picture 5" descr="02_cagr_comparison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017520"/>
          </a:xfrm>
          <a:prstGeom prst="rect">
            <a:avLst/>
          </a:prstGeom>
        </p:spPr>
      </p:pic>
      <p:pic>
        <p:nvPicPr>
          <p:cNvPr id="7" name="Picture 6" descr="01_daily_ret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484632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CAGR Performance &amp; Return Distribution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050">
                <a:solidFill>
                  <a:srgbClr val="0047AB"/>
                </a:solidFill>
              </a:rPr>
              <a:t>Geometric Formula: </a:t>
            </a:r>
            <a:r>
              <a:rPr sz="1000">
                <a:solidFill>
                  <a:srgbClr val="1E293B"/>
                </a:solidFill>
              </a:rPr>
              <a:t>CAGR = (NAV_end / NAV_start)^(1/n) - 1. Evaluated for 1Y (n=1), 3Y (n=3), and Full Horizon (n≈4.0 yrs) ending Dec 31, 2025.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047AB"/>
                </a:solidFill>
              </a:rPr>
              <a:t>Top Compounding Leaders: </a:t>
            </a:r>
            <a:r>
              <a:rPr sz="1000">
                <a:solidFill>
                  <a:srgbClr val="1E293B"/>
                </a:solidFill>
              </a:rPr>
              <a:t>Kotak Flexicap (3Y: 40.65%, 5Y: 34.42%), Mirae Asset Large Cap (3Y: 35.28%, 5Y: 35.60%), Axis Midcap (3Y: 36.66%).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047AB"/>
                </a:solidFill>
              </a:rPr>
              <a:t>Empirical Distribution: </a:t>
            </a:r>
            <a:r>
              <a:rPr sz="1000">
                <a:solidFill>
                  <a:srgbClr val="1E293B"/>
                </a:solidFill>
              </a:rPr>
              <a:t>45,960 trading observations; Daily Mean: +0.0631% (15.9% ann); Skewness: +0.04; Excess Kurtosis: +1.37 (fat tails verified via Jarque-Bera).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Analytics: Risk-Adjusted Ratios &amp; Composite Scorecard</a:t>
            </a:r>
          </a:p>
        </p:txBody>
      </p:sp>
      <p:pic>
        <p:nvPicPr>
          <p:cNvPr id="6" name="Picture 5" descr="03_sharpe_vs_sort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017520"/>
          </a:xfrm>
          <a:prstGeom prst="rect">
            <a:avLst/>
          </a:prstGeom>
        </p:spPr>
      </p:pic>
      <p:pic>
        <p:nvPicPr>
          <p:cNvPr id="7" name="Picture 6" descr="05_scorecard_to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Risk Efficiency &amp; Multi-Factor Scorecard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Sharpe &amp; Sortino ($R_f = 6.5\%$): </a:t>
            </a:r>
            <a:r>
              <a:rPr sz="1000">
                <a:solidFill>
                  <a:srgbClr val="1E293B"/>
                </a:solidFill>
              </a:rPr>
              <a:t>Mirae Asset Large Cap achieved highest Sharpe (1.448) and Sortino (1.479), minimizing downside semi-deviation on down days.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CAPM OLS Regression (Nifty 100): </a:t>
            </a:r>
            <a:r>
              <a:rPr sz="1000">
                <a:solidFill>
                  <a:srgbClr val="1E293B"/>
                </a:solidFill>
              </a:rPr>
              <a:t>Kotak Flexicap (+27.3% alpha) and ICICI Pru Midcap (+29.3% alpha) exhibited high active management alpha with controlled market beta.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Scorecard Weights (0–100): </a:t>
            </a:r>
            <a:r>
              <a:rPr sz="1000">
                <a:solidFill>
                  <a:srgbClr val="1E293B"/>
                </a:solidFill>
              </a:rPr>
              <a:t>Score = 30% × 3Y Return Rank + 25% × Sharpe Rank + 20% × Alpha Rank + 15% × TER (inv) + 10% × Max Drawdown (inv). Top fund: Kotak Flexicap (86.2).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 BI Dashboard: Industry Overview &amp; Fund Performance</a:t>
            </a:r>
          </a:p>
        </p:txBody>
      </p:sp>
      <p:pic>
        <p:nvPicPr>
          <p:cNvPr id="6" name="Picture 5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91840"/>
          </a:xfrm>
          <a:prstGeom prst="rect">
            <a:avLst/>
          </a:prstGeom>
        </p:spPr>
      </p:pic>
      <p:pic>
        <p:nvPicPr>
          <p:cNvPr id="7" name="Picture 6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560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Interactive Reporting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050">
                <a:solidFill>
                  <a:srgbClr val="0047AB"/>
                </a:solidFill>
              </a:rPr>
              <a:t>Page 1 (Industry Overview): </a:t>
            </a:r>
            <a:r>
              <a:rPr sz="1000">
                <a:solidFill>
                  <a:srgbClr val="1E293B"/>
                </a:solidFill>
              </a:rPr>
              <a:t>Real-time KPI cards tracking aggregate AUM (₹65+ Lakh Cr), active SIP accounts, top 5 AMC market share, and monthly category inflows.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047AB"/>
                </a:solidFill>
              </a:rPr>
              <a:t>Page 2 (Fund Performance): </a:t>
            </a:r>
            <a:r>
              <a:rPr sz="1000">
                <a:solidFill>
                  <a:srgbClr val="1E293B"/>
                </a:solidFill>
              </a:rPr>
              <a:t>Dynamic risk vs return scatter quadrant, interactive fund comparison slicers, multi-horizon CAGR bar charts, and expense ratio impact sliders.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 BI Dashboard: Investor Analytics &amp; SIP Market Trends</a:t>
            </a:r>
          </a:p>
        </p:txBody>
      </p:sp>
      <p:pic>
        <p:nvPicPr>
          <p:cNvPr id="6" name="Picture 5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91840"/>
          </a:xfrm>
          <a:prstGeom prst="rect">
            <a:avLst/>
          </a:prstGeom>
        </p:spPr>
      </p:pic>
      <p:pic>
        <p:nvPicPr>
          <p:cNvPr id="7" name="Picture 6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560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7AB"/>
                </a:solidFill>
              </a:defRPr>
            </a:pPr>
            <a:r>
              <a:t>Behavioral &amp; Channel Distribution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050">
                <a:solidFill>
                  <a:srgbClr val="0047AB"/>
                </a:solidFill>
              </a:rPr>
              <a:t>Page 3 (Investor Analytics): </a:t>
            </a:r>
            <a:r>
              <a:rPr sz="1000">
                <a:solidFill>
                  <a:srgbClr val="1E293B"/>
                </a:solidFill>
              </a:rPr>
              <a:t>Age cohort breakdown, gender participation split, and city tier ticket size comparisons enabling wealth managers to tailor marketing outreach.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047AB"/>
                </a:solidFill>
              </a:rPr>
              <a:t>Page 4 (SIP Trends): </a:t>
            </a:r>
            <a:r>
              <a:rPr sz="1000">
                <a:solidFill>
                  <a:srgbClr val="1E293B"/>
                </a:solidFill>
              </a:rPr>
              <a:t>Digital payment mode distribution (UPI AutoPay vs Mandates vs NetBanking), state-wise folio densities, and discontinuation vs retention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BLUESTOCK MUTUAL FUND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Recommendations &amp; Actionable Investment Playbook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47AB"/>
                </a:solidFill>
              </a:defRPr>
            </a:pPr>
            <a:r>
              <a:t>Retail Investors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Adopt Core &amp; Satellite: 60% in Large/Flexicap anchors, 40% in Mid/Small satellites.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Switch to Direct Plans: Save 60-85 bps TER drag (yielding ₹12L+ over 15Y).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Use Step-Up SIPs during drawdowns.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Wealth Managers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Filter by Sortino: Prioritize funds with high downside protection.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Monitor Tracking Error: Ensure active risk remains bounded under 20%.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Focus on T30/B30 hybrid asset allocation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5087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FinTech Platforms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Embed 0–100 Scorecard into discovery funnels rather than crude star ratings.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Real-Time Drawdown Alerts to prompt value investing entries.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One-Click Micro-SIPs via UPI AutoPay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59552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Execution Takeaway: Objective multi-factor scoring eliminates emotional investing, directing capital toward sustainable alpha generators.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BLUESTOCK MUTUAL FUND CAPSTONE PROJECT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</a:defRPr>
            </a:pPr>
            <a:r>
              <a:t>GitHub Repository: https://github.com/ankithaa08/mutual-fund-analytics  •  Tagged Release: v1.0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Deliverables: Final_Report.pdf (18 pages)  |  Bluestock_MF_Presentation.pptx (12 slides)  |  Power BI Suite (.pbix)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